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45920" y="653760"/>
            <a:ext cx="4955040" cy="181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79680" y="0"/>
            <a:ext cx="306396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4" name="Google Shape;12;p2"/>
          <p:cNvCxnSpPr/>
          <p:nvPr/>
        </p:nvCxnSpPr>
        <p:spPr>
          <a:xfrm>
            <a:off x="450360" y="525240"/>
            <a:ext cx="360" cy="206820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5" name="Google Shape;13;p2"/>
          <p:cNvCxnSpPr/>
          <p:nvPr/>
        </p:nvCxnSpPr>
        <p:spPr>
          <a:xfrm>
            <a:off x="450360" y="3868560"/>
            <a:ext cx="360" cy="65196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819504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" name="Google Shape;70;p14"/>
          <p:cNvCxnSpPr/>
          <p:nvPr/>
        </p:nvCxnSpPr>
        <p:spPr>
          <a:xfrm>
            <a:off x="593640" y="464400"/>
            <a:ext cx="360" cy="75600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8" name="Google Shape;71;p14"/>
          <p:cNvCxnSpPr/>
          <p:nvPr/>
        </p:nvCxnSpPr>
        <p:spPr>
          <a:xfrm>
            <a:off x="3100320" y="2306880"/>
            <a:ext cx="360" cy="26377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65804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20000" y="2840760"/>
            <a:ext cx="4658040" cy="199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3" name="Google Shape;76;p15"/>
          <p:cNvCxnSpPr/>
          <p:nvPr/>
        </p:nvCxnSpPr>
        <p:spPr>
          <a:xfrm>
            <a:off x="450360" y="540360"/>
            <a:ext cx="360" cy="12553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14" name="Google Shape;77;p15"/>
          <p:cNvCxnSpPr/>
          <p:nvPr/>
        </p:nvCxnSpPr>
        <p:spPr>
          <a:xfrm>
            <a:off x="450360" y="2873520"/>
            <a:ext cx="360" cy="181656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56754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Google Shape;111;p20"/>
          <p:cNvSpPr/>
          <p:nvPr/>
        </p:nvSpPr>
        <p:spPr>
          <a:xfrm>
            <a:off x="6168960" y="3906000"/>
            <a:ext cx="274608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34920" y="1510200"/>
            <a:ext cx="783612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9" name="Google Shape;18;p3"/>
          <p:cNvCxnSpPr/>
          <p:nvPr/>
        </p:nvCxnSpPr>
        <p:spPr>
          <a:xfrm>
            <a:off x="593640" y="671400"/>
            <a:ext cx="360" cy="16999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20" name="Google Shape;19;p3"/>
          <p:cNvCxnSpPr/>
          <p:nvPr/>
        </p:nvCxnSpPr>
        <p:spPr>
          <a:xfrm>
            <a:off x="8771040" y="2924280"/>
            <a:ext cx="360" cy="62064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0" y="4252680"/>
            <a:ext cx="9143640" cy="89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0000" y="1087200"/>
            <a:ext cx="770364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32;p27"/>
          <p:cNvPicPr/>
          <p:nvPr/>
        </p:nvPicPr>
        <p:blipFill>
          <a:blip r:embed="rId2"/>
          <a:stretch/>
        </p:blipFill>
        <p:spPr>
          <a:xfrm>
            <a:off x="6076800" y="0"/>
            <a:ext cx="30668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Rectangle 24"/>
          <p:cNvSpPr/>
          <p:nvPr/>
        </p:nvSpPr>
        <p:spPr>
          <a:xfrm>
            <a:off x="743040" y="1898857"/>
            <a:ext cx="49525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700" b="0" u="none" strike="noStrike" dirty="0">
                <a:solidFill>
                  <a:srgbClr val="FFFFFF"/>
                </a:solidFill>
                <a:effectLst/>
                <a:uFillTx/>
                <a:latin typeface="Inter"/>
              </a:rPr>
              <a:t>Security Risks</a:t>
            </a:r>
            <a:endParaRPr lang="en-US" sz="57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9000" y="3867120"/>
            <a:ext cx="4885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Attacks, threats, risks and their impact on security goals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70;p30"/>
          <p:cNvPicPr/>
          <p:nvPr/>
        </p:nvPicPr>
        <p:blipFill>
          <a:blip r:embed="rId2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ctangle 27"/>
          <p:cNvSpPr/>
          <p:nvPr/>
        </p:nvSpPr>
        <p:spPr>
          <a:xfrm>
            <a:off x="723960" y="447840"/>
            <a:ext cx="46573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Introduction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23960" y="2838600"/>
            <a:ext cx="465732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Security incidents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 undermine organizational trust, operations, and compliance. This presentation summarizes common attack types and their real-time impacts on the </a:t>
            </a: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confidentiality, integrity, and availability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 (CIA) triad.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Early detection and layered controls reduce exposure and operational disruption, preserving business continuity and regulatory standing.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_0:slide_img_fImkia.jpg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Rectangle 30"/>
          <p:cNvSpPr/>
          <p:nvPr/>
        </p:nvSpPr>
        <p:spPr>
          <a:xfrm>
            <a:off x="476280" y="47628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76280" y="1428840"/>
            <a:ext cx="361908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Attack Types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76280" y="3333600"/>
            <a:ext cx="3619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76280" y="476280"/>
            <a:ext cx="819108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Malware — Ransomware encrypting hospital records (real-time)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6280" y="1905120"/>
            <a:ext cx="819108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Ransomware can encrypt patient records, halting care delivery and forcing ransom payments. Immediate effects include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availability loss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 and emergency workarounds, while long-term consequences involve legal liability and reputational damage.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Containment, offline backups, and endpoint detection reduce impact and recovery time.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170;p30"/>
          <p:cNvPicPr/>
          <p:nvPr/>
        </p:nvPicPr>
        <p:blipFill>
          <a:blip r:embed="rId2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Rectangle 36"/>
          <p:cNvSpPr/>
          <p:nvPr/>
        </p:nvSpPr>
        <p:spPr>
          <a:xfrm>
            <a:off x="723960" y="447840"/>
            <a:ext cx="4657320" cy="99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Phishing — Employee targeted email stealing credentials (real-time)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23960" y="2838600"/>
            <a:ext cx="465732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Targeted phishing yields stolen credentials, enabling lateral movement and data exfiltration. This compromises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confidentiality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 and may corrupt records (integrity), escalating to fraud and regulatory breaches.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User training, MFA, and email filtering limit success rates and speed incident response.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723960" y="447840"/>
            <a:ext cx="81910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DDoS — Botnet flooding online banking services (real-time)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352680" y="1571760"/>
            <a:ext cx="5562360" cy="148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DDoS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 attacks overwhelm services, causing immediate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availability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 degradation and customer outage.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Mitigation includes traffic scrubbing, CDNs, rate limiting, and scalable cloud resources to restore service and protect SLAs.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81;p31"/>
          <p:cNvPicPr/>
          <p:nvPr/>
        </p:nvPicPr>
        <p:blipFill>
          <a:blip r:embed="rId2"/>
          <a:stretch/>
        </p:blipFill>
        <p:spPr>
          <a:xfrm>
            <a:off x="0" y="4181400"/>
            <a:ext cx="914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Rectangle 41"/>
          <p:cNvSpPr/>
          <p:nvPr/>
        </p:nvSpPr>
        <p:spPr>
          <a:xfrm>
            <a:off x="581040" y="3019320"/>
            <a:ext cx="783864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19999"/>
          </a:bodyPr>
          <a:lstStyle/>
          <a:p>
            <a:pPr algn="r"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33480" y="1514520"/>
            <a:ext cx="783864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Risks &amp; Impact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23960" y="447840"/>
            <a:ext cx="12664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02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476280" y="476280"/>
            <a:ext cx="819108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Confidentiality Breach — Exposed customer data and identity theft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76280" y="1905120"/>
            <a:ext cx="8191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Data exposure leads to customer harm, regulatory fines, and reputational loss.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Controls: strong encryption, least-privilege access, data loss prevention, and rapid breach detection to limit exposure.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_0:slide_img_eklhma.jpg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Rectangle 47"/>
          <p:cNvSpPr/>
          <p:nvPr/>
        </p:nvSpPr>
        <p:spPr>
          <a:xfrm>
            <a:off x="5048280" y="476280"/>
            <a:ext cx="361908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Integrity Compromise — Tampered transaction records causing fraud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048280" y="1905120"/>
            <a:ext cx="3619080" cy="28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Altered records enable financial loss and legal disputes, undermining trust.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Detection and prevention: cryptographic hashes, immutable audit logs, transaction verification, and timely backups to restore correct state.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723960" y="447840"/>
            <a:ext cx="81910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Availability Loss — Extended downtime disrupting critical services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352680" y="1571760"/>
            <a:ext cx="55623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Prolonged outages interrupt operations, revenue, and critical functions.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Resilience measures: redundancy, failover, DR plans, and continuous monitoring to minimize downtime and expedite recovery.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723960" y="447840"/>
            <a:ext cx="8191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Conclusions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352680" y="1571760"/>
            <a:ext cx="55623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A robust posture defends the CIA triad—</a:t>
            </a: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confidentiality, integrity, availability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—through layered controls and proactive monitoring.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M Sans"/>
              </a:rPr>
              <a:t>Adopt defense-in-depth, enforce strong policies, and maintain tested incident response and recovery plans to reduce impact and restore trust.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3960" y="228240"/>
            <a:ext cx="5676480" cy="105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Thank you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828720" y="1352520"/>
            <a:ext cx="4447800" cy="122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Do you have any questions?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youremail@freepik.com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+00 000 000 000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yourwebsite.com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6" name="Google Shape;288;p40"/>
          <p:cNvGrpSpPr/>
          <p:nvPr/>
        </p:nvGrpSpPr>
        <p:grpSpPr>
          <a:xfrm>
            <a:off x="904680" y="2655000"/>
            <a:ext cx="275760" cy="275760"/>
            <a:chOff x="904680" y="2655000"/>
            <a:chExt cx="275760" cy="275760"/>
          </a:xfrm>
        </p:grpSpPr>
        <p:sp>
          <p:nvSpPr>
            <p:cNvPr id="57" name="Google Shape;289;p40"/>
            <p:cNvSpPr/>
            <p:nvPr/>
          </p:nvSpPr>
          <p:spPr>
            <a:xfrm>
              <a:off x="904680" y="265500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290;p40"/>
            <p:cNvSpPr/>
            <p:nvPr/>
          </p:nvSpPr>
          <p:spPr>
            <a:xfrm>
              <a:off x="968760" y="272052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291;p40"/>
            <p:cNvSpPr/>
            <p:nvPr/>
          </p:nvSpPr>
          <p:spPr>
            <a:xfrm>
              <a:off x="1098720" y="269064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292;p40"/>
          <p:cNvGrpSpPr/>
          <p:nvPr/>
        </p:nvGrpSpPr>
        <p:grpSpPr>
          <a:xfrm>
            <a:off x="1523160" y="2673720"/>
            <a:ext cx="266040" cy="238320"/>
            <a:chOff x="1523160" y="2673720"/>
            <a:chExt cx="266040" cy="238320"/>
          </a:xfrm>
        </p:grpSpPr>
        <p:sp>
          <p:nvSpPr>
            <p:cNvPr id="61" name="Google Shape;293;p40"/>
            <p:cNvSpPr/>
            <p:nvPr/>
          </p:nvSpPr>
          <p:spPr>
            <a:xfrm>
              <a:off x="1532160" y="275796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294;p40"/>
            <p:cNvSpPr/>
            <p:nvPr/>
          </p:nvSpPr>
          <p:spPr>
            <a:xfrm>
              <a:off x="1523160" y="267372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295;p40"/>
            <p:cNvSpPr/>
            <p:nvPr/>
          </p:nvSpPr>
          <p:spPr>
            <a:xfrm>
              <a:off x="1625400" y="275796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" name="Google Shape;296;p40"/>
          <p:cNvSpPr/>
          <p:nvPr/>
        </p:nvSpPr>
        <p:spPr>
          <a:xfrm>
            <a:off x="6095880" y="4562640"/>
            <a:ext cx="27428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297;p40"/>
          <p:cNvSpPr/>
          <p:nvPr/>
        </p:nvSpPr>
        <p:spPr>
          <a:xfrm>
            <a:off x="2131920" y="2655720"/>
            <a:ext cx="268200" cy="273960"/>
          </a:xfrm>
          <a:custGeom>
            <a:avLst/>
            <a:gdLst>
              <a:gd name="textAreaLeft" fmla="*/ 0 w 268200"/>
              <a:gd name="textAreaRight" fmla="*/ 268560 w 268200"/>
              <a:gd name="textAreaTop" fmla="*/ 0 h 273960"/>
              <a:gd name="textAreaBottom" fmla="*/ 274320 h 273960"/>
            </a:gdLst>
            <a:ahLst/>
            <a:cxnLst/>
            <a:rect l="textAreaLeft" t="textAreaTop" r="textAreaRight" b="textAreaBottom"/>
            <a:pathLst>
              <a:path w="6712561" h="6860069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ret Service by Slidesgo">
  <a:themeElements>
    <a:clrScheme name="Simple Light">
      <a:dk1>
        <a:srgbClr val="FFFFFF"/>
      </a:dk1>
      <a:lt1>
        <a:srgbClr val="000000"/>
      </a:lt1>
      <a:dk2>
        <a:srgbClr val="70707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424</Words>
  <Application>Microsoft Office PowerPoint</Application>
  <PresentationFormat>On-screen Show (16:9)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DM Sans</vt:lpstr>
      <vt:lpstr>Inter</vt:lpstr>
      <vt:lpstr>OpenSymbol</vt:lpstr>
      <vt:lpstr>Symbol</vt:lpstr>
      <vt:lpstr>Wingdings</vt:lpstr>
      <vt:lpstr>Secret Service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HARSHA REDDY</dc:creator>
  <cp:lastModifiedBy>HARSHA REDDY</cp:lastModifiedBy>
  <cp:revision>2</cp:revision>
  <dcterms:modified xsi:type="dcterms:W3CDTF">2026-07-15T05:05:46Z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2026-07-15T04:38:37Z</dcterms:created>
  <dc:creator>Slidesgo AI</dc:creator>
  <dc:description/>
  <dc:language>en-US</dc:language>
  <cp:lastModifiedBy>Unknown Creator</cp:lastModifiedBy>
  <dcterms:modified xsi:type="dcterms:W3CDTF">2026-07-15T04:38:37Z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a243160a-370e-46e7-a8a7-3c520e4a5fe1</vt:lpwstr>
  </property>
</Properties>
</file>